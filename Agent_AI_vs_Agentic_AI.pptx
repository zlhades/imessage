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1828800"/>
            <a:ext cx="54864" cy="32004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5200" b="1">
                <a:solidFill>
                  <a:srgbClr val="4285F4"/>
                </a:solidFill>
                <a:latin typeface="Calibri"/>
              </a:defRPr>
            </a:pPr>
            <a:r>
              <a:t>Agent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0">
                <a:solidFill>
                  <a:srgbClr val="00BCD4"/>
                </a:solidFill>
                <a:latin typeface="Calibri"/>
              </a:defRPr>
            </a:pPr>
            <a:r>
              <a:t>代理式人工智能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0116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7C4DFF"/>
                </a:solidFill>
                <a:latin typeface="Calibri"/>
              </a:defRPr>
            </a:pPr>
            <a:r>
              <a:t>Agentic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31089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6D00"/>
                </a:solidFill>
                <a:latin typeface="Calibri"/>
              </a:defRPr>
            </a:pPr>
            <a:r>
              <a:t>智能体人工智能</a:t>
            </a:r>
          </a:p>
        </p:txBody>
      </p:sp>
      <p:sp>
        <p:nvSpPr>
          <p:cNvPr id="9" name="Oval 8"/>
          <p:cNvSpPr/>
          <p:nvPr/>
        </p:nvSpPr>
        <p:spPr>
          <a:xfrm>
            <a:off x="5394960" y="3200400"/>
            <a:ext cx="1371600" cy="137160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34747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754880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F6368"/>
                </a:solidFill>
                <a:latin typeface="Calibri"/>
              </a:defRPr>
            </a:pPr>
            <a:r>
              <a:t>概念辨析 · 核心差异 · 技术演进 · 未来趋势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66928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F6368"/>
                </a:solidFill>
                <a:latin typeface="Calibri"/>
              </a:defRPr>
            </a:pPr>
            <a:r>
              <a:t>2026 | AI前沿深度解读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概念澄清：一词之差，天壤之别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03520" cy="47548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03520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285F4"/>
                </a:solidFill>
                <a:latin typeface="Calibri"/>
              </a:defRPr>
            </a:pPr>
            <a:r>
              <a:t>🔵 Agent AI（代理式AI）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9FA"/>
                </a:solidFill>
                <a:latin typeface="Calibri"/>
              </a:defRPr>
            </a:pPr>
            <a:r>
              <a:t>• 定义：以Agent为载体的AI系统</a:t>
            </a:r>
            <a:br/>
            <a:r>
              <a:t>• 重点：强调AI的存在形态</a:t>
            </a:r>
            <a:br/>
            <a:r>
              <a:t>• 能力：执行特定任务的代理程序</a:t>
            </a:r>
            <a:br/>
            <a:r>
              <a:t>• 交互：用户指令驱动</a:t>
            </a:r>
            <a:br/>
            <a:r>
              <a:t>• 典型：聊天机器人、虚拟助手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4754880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BCD4"/>
                </a:solidFill>
                <a:latin typeface="Calibri"/>
              </a:defRPr>
            </a:pPr>
            <a:r>
              <a:t>💡 本质：AI的"载体"与"形态"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5303520" cy="47548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5303520" cy="7315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6459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7C4DFF"/>
                </a:solidFill>
                <a:latin typeface="Calibri"/>
              </a:defRPr>
            </a:pPr>
            <a:r>
              <a:t>🟣 Agentic AI（智能体AI）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F9FA"/>
                </a:solidFill>
                <a:latin typeface="Calibri"/>
              </a:defRPr>
            </a:pPr>
            <a:r>
              <a:t>• 定义：具有Agentic特性的AI系统</a:t>
            </a:r>
            <a:br/>
            <a:r>
              <a:t>• 重点：强调AI的行为与能力</a:t>
            </a:r>
            <a:br/>
            <a:r>
              <a:t>• 能力：自主规划、决策、执行</a:t>
            </a:r>
            <a:br/>
            <a:r>
              <a:t>• 交互：目标驱动，主动发起</a:t>
            </a:r>
            <a:br/>
            <a:r>
              <a:t>• 典型：AutoGPT、Devin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5029200"/>
            <a:ext cx="4754880" cy="2743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52120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6D00"/>
                </a:solidFill>
                <a:latin typeface="Calibri"/>
              </a:defRPr>
            </a:pPr>
            <a:r>
              <a:t>💡 本质：AI的"能力"与"自主性"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什么是 Agentic AI（智能体AI）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13716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4DFF"/>
                </a:solidFill>
                <a:latin typeface="Calibri"/>
              </a:defRPr>
            </a:pPr>
            <a:r>
              <a:t>📖 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8F9FA"/>
                </a:solidFill>
                <a:latin typeface="Calibri"/>
              </a:defRPr>
            </a:pPr>
            <a:r>
              <a:t>Agentic AI 指能够自主感知环境、制定决策并采取行动以实现目标的智能系统。它不仅仅是响应指令，而是展现出主动性和目标导向行为。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3383280" cy="310896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3383280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285F4"/>
                </a:solidFill>
                <a:latin typeface="Calibri"/>
              </a:defRPr>
            </a:pPr>
            <a:r>
              <a:t>自主性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Autonomy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9FA"/>
                </a:solidFill>
                <a:latin typeface="Calibri"/>
              </a:defRPr>
            </a:pPr>
            <a:r>
              <a:t>• 无需人工干预</a:t>
            </a:r>
            <a:br/>
            <a:r>
              <a:t>• 独立制定计划</a:t>
            </a:r>
            <a:br/>
            <a:r>
              <a:t>• 自主执行任务</a:t>
            </a:r>
            <a:br/>
            <a:r>
              <a:t>• 自我纠错优化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59" y="3108960"/>
            <a:ext cx="3383280" cy="310896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59" y="3108960"/>
            <a:ext cx="3383280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39" y="32918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399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4A853"/>
                </a:solidFill>
                <a:latin typeface="Calibri"/>
              </a:defRPr>
            </a:pPr>
            <a:r>
              <a:t>主动性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399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Proactiveness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39" y="42062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9FA"/>
                </a:solidFill>
                <a:latin typeface="Calibri"/>
              </a:defRPr>
            </a:pPr>
            <a:r>
              <a:t>• 主动发起行动</a:t>
            </a:r>
            <a:br/>
            <a:r>
              <a:t>• 预测用户需求</a:t>
            </a:r>
            <a:br/>
            <a:r>
              <a:t>• 提前规划路径</a:t>
            </a:r>
            <a:br/>
            <a:r>
              <a:t>• 动态调整策略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108960"/>
            <a:ext cx="3383280" cy="310896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3108960"/>
            <a:ext cx="3383280" cy="7315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32918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D00"/>
                </a:solidFill>
                <a:latin typeface="Calibri"/>
              </a:defRPr>
            </a:pPr>
            <a:r>
              <a:t>交互性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Social 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2062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9FA"/>
                </a:solidFill>
                <a:latin typeface="Calibri"/>
              </a:defRPr>
            </a:pPr>
            <a:r>
              <a:t>• 与其他AI协作</a:t>
            </a:r>
            <a:br/>
            <a:r>
              <a:t>• 人机自然对话</a:t>
            </a:r>
            <a:br/>
            <a:r>
              <a:t>• 多智能体协调</a:t>
            </a:r>
            <a:br/>
            <a:r>
              <a:t>• 环境感知反馈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核心维度对比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6400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F6368"/>
                </a:solidFill>
                <a:latin typeface="Calibri"/>
              </a:defRPr>
            </a:pPr>
            <a:r>
              <a:t>对比维度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463040"/>
            <a:ext cx="3474720" cy="6400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08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285F4"/>
                </a:solidFill>
                <a:latin typeface="Calibri"/>
              </a:defRPr>
            </a:pPr>
            <a:r>
              <a:t>Agent AI 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463040"/>
            <a:ext cx="3474720" cy="6400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C4DFF"/>
                </a:solidFill>
                <a:latin typeface="Calibri"/>
              </a:defRPr>
            </a:pPr>
            <a:r>
              <a:t>Agentic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94560"/>
            <a:ext cx="3474720" cy="54864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94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F6368"/>
                </a:solidFill>
                <a:latin typeface="Calibri"/>
              </a:defRPr>
            </a:pPr>
            <a:r>
              <a:t>核心定位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194560"/>
            <a:ext cx="3474720" cy="54864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AI的载体形态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194560"/>
            <a:ext cx="3474720" cy="54864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94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AI的能力特征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88920"/>
            <a:ext cx="3474720" cy="548640"/>
          </a:xfrm>
          <a:prstGeom prst="rect">
            <a:avLst/>
          </a:prstGeom>
          <a:solidFill>
            <a:srgbClr val="2D2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7889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F6368"/>
                </a:solidFill>
                <a:latin typeface="Calibri"/>
              </a:defRPr>
            </a:pPr>
            <a:r>
              <a:t>自主程度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788920"/>
            <a:ext cx="3474720" cy="548640"/>
          </a:xfrm>
          <a:prstGeom prst="rect">
            <a:avLst/>
          </a:prstGeom>
          <a:solidFill>
            <a:srgbClr val="2D2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7889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低-中（依赖指令）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788920"/>
            <a:ext cx="3474720" cy="548640"/>
          </a:xfrm>
          <a:prstGeom prst="rect">
            <a:avLst/>
          </a:prstGeom>
          <a:solidFill>
            <a:srgbClr val="2D2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7889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高（自主决策）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383280"/>
            <a:ext cx="3474720" cy="54864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3832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F6368"/>
                </a:solidFill>
                <a:latin typeface="Calibri"/>
              </a:defRPr>
            </a:pPr>
            <a:r>
              <a:t>任务处理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3383280"/>
            <a:ext cx="3474720" cy="54864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3832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执行预设任务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383280"/>
            <a:ext cx="3474720" cy="54864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3832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自主规划执行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977639"/>
            <a:ext cx="3474720" cy="548640"/>
          </a:xfrm>
          <a:prstGeom prst="rect">
            <a:avLst/>
          </a:prstGeom>
          <a:solidFill>
            <a:srgbClr val="2D2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97763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F6368"/>
                </a:solidFill>
                <a:latin typeface="Calibri"/>
              </a:defRPr>
            </a:pPr>
            <a:r>
              <a:t>交互方式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3977639"/>
            <a:ext cx="3474720" cy="548640"/>
          </a:xfrm>
          <a:prstGeom prst="rect">
            <a:avLst/>
          </a:prstGeom>
          <a:solidFill>
            <a:srgbClr val="2D2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397763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被动响应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977639"/>
            <a:ext cx="3474720" cy="548640"/>
          </a:xfrm>
          <a:prstGeom prst="rect">
            <a:avLst/>
          </a:prstGeom>
          <a:solidFill>
            <a:srgbClr val="2D2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97763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主动发起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572000"/>
            <a:ext cx="3474720" cy="54864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572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F6368"/>
                </a:solidFill>
                <a:latin typeface="Calibri"/>
              </a:defRPr>
            </a:pPr>
            <a:r>
              <a:t>决策能力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4572000"/>
            <a:ext cx="3474720" cy="54864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4572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有限/规则驱动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4572000"/>
            <a:ext cx="3474720" cy="54864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4572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强/推理驱动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166360"/>
            <a:ext cx="3474720" cy="548640"/>
          </a:xfrm>
          <a:prstGeom prst="rect">
            <a:avLst/>
          </a:prstGeom>
          <a:solidFill>
            <a:srgbClr val="2D2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1663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F6368"/>
                </a:solidFill>
                <a:latin typeface="Calibri"/>
              </a:defRPr>
            </a:pPr>
            <a:r>
              <a:t>典型场景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0" y="5166360"/>
            <a:ext cx="3474720" cy="548640"/>
          </a:xfrm>
          <a:prstGeom prst="rect">
            <a:avLst/>
          </a:prstGeom>
          <a:solidFill>
            <a:srgbClr val="2D2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51663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客服、助手、问答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5166360"/>
            <a:ext cx="3474720" cy="548640"/>
          </a:xfrm>
          <a:prstGeom prst="rect">
            <a:avLst/>
          </a:prstGeom>
          <a:solidFill>
            <a:srgbClr val="2D2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51663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编程、研究、自动化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5760720"/>
            <a:ext cx="3474720" cy="54864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5760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F6368"/>
                </a:solidFill>
                <a:latin typeface="Calibri"/>
              </a:defRPr>
            </a:pPr>
            <a:r>
              <a:t>发展阶段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80560" y="5760720"/>
            <a:ext cx="3474720" cy="54864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0" y="5760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成熟/广泛应用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5760720"/>
            <a:ext cx="3474720" cy="54864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21040" y="5760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快速演进/早期采用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Agentic AI 技术架构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5120640"/>
            <a:ext cx="9418320" cy="9144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5120640"/>
            <a:ext cx="73152" cy="914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85F4"/>
                </a:solidFill>
                <a:latin typeface="Calibri"/>
              </a:defRPr>
            </a:pPr>
            <a:r>
              <a:t>🧠 认知层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521208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LLM + 知识库</a:t>
            </a:r>
            <a:br/>
            <a:r>
              <a:t>• 语言理解与推理</a:t>
            </a:r>
            <a:br/>
            <a:r>
              <a:t>• 上下文记忆管理</a:t>
            </a:r>
            <a:br/>
            <a:r>
              <a:t>• 领域知识调用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023359"/>
            <a:ext cx="9418320" cy="9144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023359"/>
            <a:ext cx="73152" cy="9144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11479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4DFF"/>
                </a:solidFill>
                <a:latin typeface="Calibri"/>
              </a:defRPr>
            </a:pPr>
            <a:r>
              <a:t>⚙️ 规划层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114799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任务分解与编排</a:t>
            </a:r>
            <a:br/>
            <a:r>
              <a:t>• 目标分解规划</a:t>
            </a:r>
            <a:br/>
            <a:r>
              <a:t>• 工具选择调用</a:t>
            </a:r>
            <a:br/>
            <a:r>
              <a:t>• 执行路径优化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926079"/>
            <a:ext cx="9418320" cy="9144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2926079"/>
            <a:ext cx="73152" cy="9144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3017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D00"/>
                </a:solidFill>
                <a:latin typeface="Calibri"/>
              </a:defRPr>
            </a:pPr>
            <a:r>
              <a:t>🔧 工具层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017519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外部能力集成</a:t>
            </a:r>
            <a:br/>
            <a:r>
              <a:t>• API/数据库访问</a:t>
            </a:r>
            <a:br/>
            <a:r>
              <a:t>• 代码执行环境</a:t>
            </a:r>
            <a:br/>
            <a:r>
              <a:t>• 搜索引擎集成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0" y="1828800"/>
            <a:ext cx="73152" cy="914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A853"/>
                </a:solidFill>
                <a:latin typeface="Calibri"/>
              </a:defRPr>
            </a:pPr>
            <a:r>
              <a:t>👁️ 感知层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192024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环境交互接口</a:t>
            </a:r>
            <a:br/>
            <a:r>
              <a:t>• 多模态输入处理</a:t>
            </a:r>
            <a:br/>
            <a:r>
              <a:t>• 实时反馈收集</a:t>
            </a:r>
            <a:br/>
            <a:r>
              <a:t>• 状态监测评估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14630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F6368"/>
                </a:solidFill>
                <a:latin typeface="Calibri"/>
              </a:defRPr>
            </a:pPr>
            <a:r>
              <a:t>⬆ 数据流向上 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Agentic AI 应用场景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212080" cy="2286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120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002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285F4"/>
                </a:solidFill>
                <a:latin typeface="Calibri"/>
              </a:defRPr>
            </a:pPr>
            <a:r>
              <a:t>自主编程助手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9FA"/>
                </a:solidFill>
                <a:latin typeface="Calibri"/>
              </a:defRPr>
            </a:pPr>
            <a:r>
              <a:t>• 理解需求自动生成代码</a:t>
            </a:r>
            <a:br/>
            <a:r>
              <a:t>• 调试修复优化一体化</a:t>
            </a:r>
            <a:br/>
            <a:r>
              <a:t>• 代码审查与重构建议</a:t>
            </a:r>
            <a:br/>
            <a:r>
              <a:t>• 代表：Devin, Cursor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463040"/>
            <a:ext cx="5212080" cy="2286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463040"/>
            <a:ext cx="5212080" cy="5486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645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39" y="16002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4DFF"/>
                </a:solidFill>
                <a:latin typeface="Calibri"/>
              </a:defRPr>
            </a:pPr>
            <a:r>
              <a:t>智能数据分析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22860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9FA"/>
                </a:solidFill>
                <a:latin typeface="Calibri"/>
              </a:defRPr>
            </a:pPr>
            <a:r>
              <a:t>• 自主探索数据发现模式</a:t>
            </a:r>
            <a:br/>
            <a:r>
              <a:t>• 生成可视化与报告</a:t>
            </a:r>
            <a:br/>
            <a:r>
              <a:t>• 统计建模与预测</a:t>
            </a:r>
            <a:br/>
            <a:r>
              <a:t>• 代表：Code Interpreter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23360"/>
            <a:ext cx="5212080" cy="2286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023360"/>
            <a:ext cx="5212080" cy="54864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06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1605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D00"/>
                </a:solidFill>
                <a:latin typeface="Calibri"/>
              </a:defRPr>
            </a:pPr>
            <a:r>
              <a:t>自动化研究助理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4632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9FA"/>
                </a:solidFill>
                <a:latin typeface="Calibri"/>
              </a:defRPr>
            </a:pPr>
            <a:r>
              <a:t>• 文献检索与综述撰写</a:t>
            </a:r>
            <a:br/>
            <a:r>
              <a:t>• 实验设计与执行</a:t>
            </a:r>
            <a:br/>
            <a:r>
              <a:t>• 跨学科知识整合</a:t>
            </a:r>
            <a:br/>
            <a:r>
              <a:t>• 代表：Elicit, Consensus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4023360"/>
            <a:ext cx="5212080" cy="2286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4023360"/>
            <a:ext cx="52120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79" y="4206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39" y="41605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4A853"/>
                </a:solidFill>
                <a:latin typeface="Calibri"/>
              </a:defRPr>
            </a:pPr>
            <a:r>
              <a:t>业务流程自动化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484632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F9FA"/>
                </a:solidFill>
                <a:latin typeface="Calibri"/>
              </a:defRPr>
            </a:pPr>
            <a:r>
              <a:t>• 跨系统工作流编排</a:t>
            </a:r>
            <a:br/>
            <a:r>
              <a:t>• 客户服务自动化</a:t>
            </a:r>
            <a:br/>
            <a:r>
              <a:t>• 决策支持与执行</a:t>
            </a:r>
            <a:br/>
            <a:r>
              <a:t>• 代表：UiPath AI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AI演进时间线：从ChatGPT到Agentic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645920" cy="41148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64592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285F4"/>
                </a:solidFill>
                <a:latin typeface="Calibri"/>
              </a:defRPr>
            </a:pPr>
            <a:r>
              <a:t>2022</a:t>
            </a:r>
            <a:br/>
            <a:r>
              <a:t>Q4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651760"/>
            <a:ext cx="1097280" cy="1828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ChatGPT</a:t>
            </a:r>
            <a:br/>
            <a:r>
              <a:t>发布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Calibri"/>
              </a:defRPr>
            </a:pPr>
            <a:r>
              <a:t>对话式AI</a:t>
            </a:r>
            <a:br/>
            <a:r>
              <a:t>引爆全球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645920"/>
            <a:ext cx="1645920" cy="41148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1645920"/>
            <a:ext cx="1645920" cy="5486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4DFF"/>
                </a:solidFill>
                <a:latin typeface="Calibri"/>
              </a:defRPr>
            </a:pPr>
            <a:r>
              <a:t>2023</a:t>
            </a:r>
            <a:br/>
            <a:r>
              <a:t>Q1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651760"/>
            <a:ext cx="1097280" cy="1828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8346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GPT-4</a:t>
            </a:r>
            <a:br/>
            <a:r>
              <a:t>发布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9319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Calibri"/>
              </a:defRPr>
            </a:pPr>
            <a:r>
              <a:t>多模态能力</a:t>
            </a:r>
            <a:br/>
            <a:r>
              <a:t>初步智能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645920"/>
            <a:ext cx="1645920" cy="41148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1645920"/>
            <a:ext cx="1645920" cy="54864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D00"/>
                </a:solidFill>
                <a:latin typeface="Calibri"/>
              </a:defRPr>
            </a:pPr>
            <a:r>
              <a:t>2023</a:t>
            </a:r>
            <a:br/>
            <a:r>
              <a:t>Q2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2651760"/>
            <a:ext cx="1097280" cy="18288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8346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AutoGPT</a:t>
            </a:r>
            <a:br/>
            <a:r>
              <a:t>爆红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9319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Calibri"/>
              </a:defRPr>
            </a:pPr>
            <a:r>
              <a:t>AI智能体</a:t>
            </a:r>
            <a:br/>
            <a:r>
              <a:t>概念兴起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645920"/>
            <a:ext cx="1645920" cy="41148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1645920"/>
            <a:ext cx="164592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A853"/>
                </a:solidFill>
                <a:latin typeface="Calibri"/>
              </a:defRPr>
            </a:pPr>
            <a:r>
              <a:t>2023</a:t>
            </a:r>
            <a:br/>
            <a:r>
              <a:t>Q4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651760"/>
            <a:ext cx="1097280" cy="1828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8346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GPTs</a:t>
            </a:r>
            <a:br/>
            <a:r>
              <a:t>上线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9319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Calibri"/>
              </a:defRPr>
            </a:pPr>
            <a:r>
              <a:t>定制化</a:t>
            </a:r>
            <a:br/>
            <a:r>
              <a:t>AI助手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1645920"/>
            <a:ext cx="1645920" cy="41148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0" y="1645920"/>
            <a:ext cx="164592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CD4"/>
                </a:solidFill>
                <a:latin typeface="Calibri"/>
              </a:defRPr>
            </a:pPr>
            <a:r>
              <a:t>2024</a:t>
            </a:r>
            <a:br/>
            <a:r>
              <a:t>Q1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2651760"/>
            <a:ext cx="1097280" cy="1828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28346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 Devin</a:t>
            </a:r>
            <a:br/>
            <a:r>
              <a:t>亮相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9319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Calibri"/>
              </a:defRPr>
            </a:pPr>
            <a:r>
              <a:t>自主编程</a:t>
            </a:r>
            <a:br/>
            <a:r>
              <a:t>智能体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32720" y="1645920"/>
            <a:ext cx="1645920" cy="41148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332720" y="1645920"/>
            <a:ext cx="164592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3272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285F4"/>
                </a:solidFill>
                <a:latin typeface="Calibri"/>
              </a:defRPr>
            </a:pPr>
            <a:r>
              <a:t>2025+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07040" y="2651760"/>
            <a:ext cx="1097280" cy="1828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24160" y="28346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Agentic AI</a:t>
            </a:r>
            <a:br/>
            <a:r>
              <a:t>时代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39319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Calibri"/>
              </a:defRPr>
            </a:pPr>
            <a:r>
              <a:t>多智能体</a:t>
            </a:r>
            <a:br/>
            <a:r>
              <a:t>协作生态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669280"/>
            <a:ext cx="1069848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0" y="5760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CD4"/>
                </a:solidFill>
                <a:latin typeface="Calibri"/>
              </a:defRPr>
            </a:pPr>
            <a:r>
              <a:t>AI自主性不断增强 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核心洞察与建议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10972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85F4"/>
                </a:solidFill>
                <a:latin typeface="Calibri"/>
              </a:defRPr>
            </a:pPr>
            <a:r>
              <a:t>洞察一：概念互补，非对立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Agent AI强调AI的存在形态，Agentic AI强调AI的能力特征。</a:t>
            </a:r>
            <a:br/>
            <a:r>
              <a:t>两者不是对立关系，而是描述维度的不同。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97480"/>
            <a:ext cx="10698480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97480"/>
            <a:ext cx="73152" cy="109728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4DFF"/>
                </a:solidFill>
                <a:latin typeface="Calibri"/>
              </a:defRPr>
            </a:pPr>
            <a:r>
              <a:t>洞察二：能力跃迁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461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从Agent到Agentic，代表AI从"被动执行"到"主动行动"的范式转变。</a:t>
            </a:r>
            <a:br/>
            <a:r>
              <a:t>这是技术发展的必然趋势。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73152" cy="10972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69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D00"/>
                </a:solidFill>
                <a:latin typeface="Calibri"/>
              </a:defRPr>
            </a:pPr>
            <a:r>
              <a:t>洞察三：融合发展趋势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805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未来的AI系统将同时具备Agent形态和Agentic能力。</a:t>
            </a:r>
            <a:br/>
            <a:r>
              <a:t>两者的界限将逐渐模糊，走向统一。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166360"/>
            <a:ext cx="10698480" cy="109728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166360"/>
            <a:ext cx="73152" cy="109728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303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257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444"/>
                </a:solidFill>
                <a:latin typeface="Calibri"/>
              </a:defRPr>
            </a:pPr>
            <a:r>
              <a:t>洞察四：风险意识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7150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9FA"/>
                </a:solidFill>
                <a:latin typeface="Calibri"/>
              </a:defRPr>
            </a:pPr>
            <a:r>
              <a:t>Agentic AI的自主能力带来效率提升的同时，也带来可控性挑战。</a:t>
            </a:r>
            <a:br/>
            <a:r>
              <a:t>建立AI治理框架和监管机制刻不容缓。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1371600"/>
            <a:ext cx="5760720" cy="41148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371600"/>
            <a:ext cx="5760720" cy="7315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0" y="5413248"/>
            <a:ext cx="5760720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1645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4DFF"/>
                </a:solidFill>
                <a:latin typeface="Calibri"/>
              </a:defRPr>
            </a:pPr>
            <a:r>
              <a:t>📌 总结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2377440"/>
            <a:ext cx="822960" cy="27432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2651760"/>
            <a:ext cx="4480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8F9FA"/>
                </a:solidFill>
                <a:latin typeface="Calibri"/>
              </a:defRPr>
            </a:pPr>
            <a:r>
              <a:t>🔵 Agent AI = AI的载体形态（在哪里）</a:t>
            </a:r>
            <a:br/>
            <a:br/>
            <a:r>
              <a:t>🟣 Agentic AI = AI的能力特征（能做什么）</a:t>
            </a:r>
            <a:br/>
            <a:br/>
            <a:br/>
            <a:br/>
            <a:r>
              <a:t>✓ Agent AI → 交互执行 · 任务导向</a:t>
            </a:r>
            <a:br/>
            <a:br/>
            <a:r>
              <a:t>✓ Agentic AI → 自主规划 · 目标驱动</a:t>
            </a:r>
            <a:br/>
            <a:br/>
            <a:br/>
            <a:br/>
            <a:r>
              <a:t>🔮 未来趋势：Agent + Agentic = 完整AI</a:t>
            </a:r>
            <a:br/>
            <a:br/>
            <a:r>
              <a:t>从被动工具 → 自主伙伴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760720"/>
            <a:ext cx="8531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285F4"/>
                </a:solidFill>
                <a:latin typeface="Calibri"/>
              </a:defRPr>
            </a:pPr>
            <a:r>
              <a:t>理解差异，拥抱未来 · 智能体时代已来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1645920"/>
            <a:ext cx="54864" cy="2286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4285F4"/>
                </a:solidFill>
                <a:latin typeface="Calibri"/>
              </a:defRPr>
            </a:pPr>
            <a:r>
              <a:t>Agent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8288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7C4DFF"/>
                </a:solidFill>
                <a:latin typeface="Calibri"/>
              </a:defRPr>
            </a:pPr>
            <a:r>
              <a:t>Agentic AI</a:t>
            </a:r>
          </a:p>
        </p:txBody>
      </p:sp>
      <p:sp>
        <p:nvSpPr>
          <p:cNvPr id="7" name="Oval 6"/>
          <p:cNvSpPr/>
          <p:nvPr/>
        </p:nvSpPr>
        <p:spPr>
          <a:xfrm>
            <a:off x="5394960" y="2103120"/>
            <a:ext cx="1371600" cy="137160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23774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4114800"/>
            <a:ext cx="4846320" cy="9144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4114800"/>
            <a:ext cx="484632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4206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A853"/>
                </a:solidFill>
                <a:latin typeface="Calibri"/>
              </a:defRPr>
            </a:pPr>
            <a:r>
              <a:t>✅ 两者相辅相成，共同定义AI未来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572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8F9FA"/>
                </a:solidFill>
                <a:latin typeface="Calibri"/>
              </a:defRPr>
            </a:pPr>
            <a:r>
              <a:t>Agent形态 + Agentic能力 = 完整智能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029200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谢谢观看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76072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F6368"/>
                </a:solidFill>
                <a:latin typeface="Calibri"/>
              </a:defRPr>
            </a:pPr>
            <a:r>
              <a:t>Thank You |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