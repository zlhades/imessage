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54864" cy="1828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AI工业革命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285F4"/>
                </a:solidFill>
                <a:latin typeface="Calibri"/>
              </a:defRPr>
            </a:pPr>
            <a:r>
              <a:t>Artificial Intelligence: The Fourth Industrial Revolution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06240"/>
            <a:ext cx="2743200" cy="36576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F6368"/>
                </a:solidFill>
                <a:latin typeface="Calibri"/>
              </a:defRPr>
            </a:pPr>
            <a:r>
              <a:t>从历史演变到未来趋势 | 重塑人类社会的智能浪潮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2026 | 深度研究报告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工业革命的历史演进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41148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CD4"/>
                </a:solidFill>
                <a:latin typeface="Calibri"/>
              </a:defRPr>
            </a:pPr>
            <a:r>
              <a:t>工业1.0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蒸汽时代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368"/>
                </a:solidFill>
                <a:latin typeface="Calibri"/>
              </a:defRPr>
            </a:pPr>
            <a:r>
              <a:t>1760-1840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749039"/>
            <a:ext cx="1554480" cy="182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CD4"/>
                </a:solidFill>
                <a:latin typeface="Calibri"/>
              </a:defRPr>
            </a:pPr>
            <a:r>
              <a:t>核心技术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9FA"/>
                </a:solidFill>
                <a:latin typeface="Calibri"/>
              </a:defRPr>
            </a:pPr>
            <a:r>
              <a:t>蒸汽机、纺织机械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Calibri"/>
              </a:defRPr>
            </a:pPr>
            <a:r>
              <a:t>机械化生产开始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39" y="1645920"/>
            <a:ext cx="2468880" cy="41148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39" y="1645920"/>
            <a:ext cx="246888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39" y="1920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  <a:latin typeface="Calibri"/>
              </a:defRPr>
            </a:pPr>
            <a:r>
              <a:t>工业2.0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2651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电气时代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368"/>
                </a:solidFill>
                <a:latin typeface="Calibri"/>
              </a:defRPr>
            </a:pPr>
            <a:r>
              <a:t>1870-1914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3749039"/>
            <a:ext cx="1554480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39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285F4"/>
                </a:solidFill>
                <a:latin typeface="Calibri"/>
              </a:defRPr>
            </a:pPr>
            <a:r>
              <a:t>核心技术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39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9FA"/>
                </a:solidFill>
                <a:latin typeface="Calibri"/>
              </a:defRPr>
            </a:pPr>
            <a:r>
              <a:t>电力、流水线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029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Calibri"/>
              </a:defRPr>
            </a:pPr>
            <a:r>
              <a:t>大规模生产成为可能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1645920"/>
            <a:ext cx="2468880" cy="41148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1645920"/>
            <a:ext cx="2468880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920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4DFF"/>
                </a:solidFill>
                <a:latin typeface="Calibri"/>
              </a:defRPr>
            </a:pPr>
            <a:r>
              <a:t>工业3.0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651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信息时代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368"/>
                </a:solidFill>
                <a:latin typeface="Calibri"/>
              </a:defRPr>
            </a:pPr>
            <a:r>
              <a:t>1960-2000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59" y="3749039"/>
            <a:ext cx="1554480" cy="1828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4DFF"/>
                </a:solidFill>
                <a:latin typeface="Calibri"/>
              </a:defRPr>
            </a:pPr>
            <a:r>
              <a:t>核心技术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9FA"/>
                </a:solidFill>
                <a:latin typeface="Calibri"/>
              </a:defRPr>
            </a:pPr>
            <a:r>
              <a:t>计算机、互联网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5029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Calibri"/>
              </a:defRPr>
            </a:pPr>
            <a:r>
              <a:t>数字化革命兴起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1645920"/>
            <a:ext cx="2468880" cy="41148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1645920"/>
            <a:ext cx="2468880" cy="7315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920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D00"/>
                </a:solidFill>
                <a:latin typeface="Calibri"/>
              </a:defRPr>
            </a:pPr>
            <a:r>
              <a:t>工业4.0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651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智能时代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368"/>
                </a:solidFill>
                <a:latin typeface="Calibri"/>
              </a:defRPr>
            </a:pPr>
            <a:r>
              <a:t>2010-至今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5480" y="3749039"/>
            <a:ext cx="1554480" cy="1828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D00"/>
                </a:solidFill>
                <a:latin typeface="Calibri"/>
              </a:defRPr>
            </a:pPr>
            <a:r>
              <a:t>核心技术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9FA"/>
                </a:solidFill>
                <a:latin typeface="Calibri"/>
              </a:defRPr>
            </a:pPr>
            <a:r>
              <a:t>AI、物联网、大数据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5029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Calibri"/>
              </a:defRPr>
            </a:pPr>
            <a:r>
              <a:t>自主决策与智能化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AI核心技术栈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4285F4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机器学习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85F4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• 深度学习神经网络</a:t>
            </a:r>
            <a:br/>
            <a:r>
              <a:t>• 强化学习决策系统</a:t>
            </a:r>
            <a:br/>
            <a:r>
              <a:t>• 迁移学习跨域应用</a:t>
            </a:r>
            <a:br/>
            <a:r>
              <a:t>• 自监督学习范式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46304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463040"/>
            <a:ext cx="73152" cy="2286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645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7C4D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39" y="1600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自然语言处理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39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4DFF"/>
                </a:solidFill>
                <a:latin typeface="Calibri"/>
              </a:defRPr>
            </a:pPr>
            <a:r>
              <a:t>Natural Language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• 大语言模型 (LLM)</a:t>
            </a:r>
            <a:br/>
            <a:r>
              <a:t>• 语义理解与生成</a:t>
            </a:r>
            <a:br/>
            <a:r>
              <a:t>• 多语言实时翻译</a:t>
            </a:r>
            <a:br/>
            <a:r>
              <a:t>• 情感分析与洞察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73152" cy="2286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BCD4"/>
                </a:solidFill>
                <a:latin typeface="Calibri"/>
              </a:defRPr>
            </a:pPr>
            <a:r>
              <a:t>👁️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计算机视觉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CD4"/>
                </a:solidFill>
                <a:latin typeface="Calibri"/>
              </a:defRPr>
            </a:pPr>
            <a:r>
              <a:t>Computer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12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• 图像识别与分类</a:t>
            </a:r>
            <a:br/>
            <a:r>
              <a:t>• 目标检测与跟踪</a:t>
            </a:r>
            <a:br/>
            <a:r>
              <a:t>• 3D场景重建</a:t>
            </a:r>
            <a:br/>
            <a:r>
              <a:t>• 医学影像诊断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411480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4114800"/>
            <a:ext cx="73152" cy="2286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4297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6D0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39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智能机器人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39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D00"/>
                </a:solidFill>
                <a:latin typeface="Calibri"/>
              </a:defRPr>
            </a:pPr>
            <a:r>
              <a:t>Robotics &amp;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5212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• 自主导航系统</a:t>
            </a:r>
            <a:br/>
            <a:r>
              <a:t>• 人机协作交互</a:t>
            </a:r>
            <a:br/>
            <a:r>
              <a:t>• 智能决策规划</a:t>
            </a:r>
            <a:br/>
            <a:r>
              <a:t>• 工业制造自动化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AI赋能千行百业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85F4"/>
                </a:solidFill>
                <a:latin typeface="Calibri"/>
              </a:defRPr>
            </a:pPr>
            <a:r>
              <a:t>🏭 智能制造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9FA"/>
                </a:solidFill>
                <a:latin typeface="Calibri"/>
              </a:defRPr>
            </a:pPr>
            <a:r>
              <a:t>• 质量检测自动化</a:t>
            </a:r>
            <a:br/>
            <a:r>
              <a:t>• 预测性维护系统</a:t>
            </a:r>
            <a:br/>
            <a:r>
              <a:t>• 供应链智能优化</a:t>
            </a:r>
            <a:br/>
            <a:r>
              <a:t>• 数字孪生工厂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383280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383280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7373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A853"/>
                </a:solidFill>
                <a:latin typeface="Calibri"/>
              </a:defRPr>
            </a:pPr>
            <a:r>
              <a:t>🏥 智慧医疗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5603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9FA"/>
                </a:solidFill>
                <a:latin typeface="Calibri"/>
              </a:defRPr>
            </a:pPr>
            <a:r>
              <a:t>• AI辅助疾病诊断</a:t>
            </a:r>
            <a:br/>
            <a:r>
              <a:t>• 药物研发加速</a:t>
            </a:r>
            <a:br/>
            <a:r>
              <a:t>• 个性化治疗方案</a:t>
            </a:r>
            <a:br/>
            <a:r>
              <a:t>• 医学影像分析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383280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383280" cy="914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373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Calibri"/>
              </a:defRPr>
            </a:pPr>
            <a:r>
              <a:t>🚗 智能交通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603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9FA"/>
                </a:solidFill>
                <a:latin typeface="Calibri"/>
              </a:defRPr>
            </a:pPr>
            <a:r>
              <a:t>• 自动驾驶技术</a:t>
            </a:r>
            <a:br/>
            <a:r>
              <a:t>• 智能交通调度</a:t>
            </a:r>
            <a:br/>
            <a:r>
              <a:t>• 物流路径优化</a:t>
            </a:r>
            <a:br/>
            <a:r>
              <a:t>• 车路协同系统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43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D0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质检准确率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943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D00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研发效率提升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943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D00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物流成本降低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AI的经济影响力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29260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285F4"/>
                </a:solidFill>
                <a:latin typeface="Calibri"/>
              </a:defRPr>
            </a:pPr>
            <a:r>
              <a:t>$15.7万亿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9FA"/>
                </a:solidFill>
                <a:latin typeface="Calibri"/>
              </a:defRPr>
            </a:pPr>
            <a:r>
              <a:t>2030年全球AI</a:t>
            </a:r>
            <a:br/>
            <a:r>
              <a:t>经济贡献预测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2560320" cy="29260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256032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A853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9FA"/>
                </a:solidFill>
                <a:latin typeface="Calibri"/>
              </a:defRPr>
            </a:pPr>
            <a:r>
              <a:t>企业采用AI后</a:t>
            </a:r>
            <a:br/>
            <a:r>
              <a:t>效率平均提升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2560320" cy="29260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2560320" cy="7315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D00"/>
                </a:solidFill>
                <a:latin typeface="Calibri"/>
              </a:defRPr>
            </a:pPr>
            <a:r>
              <a:t>9700万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9FA"/>
                </a:solidFill>
                <a:latin typeface="Calibri"/>
              </a:defRPr>
            </a:pPr>
            <a:r>
              <a:t>AI创造的新就业</a:t>
            </a:r>
            <a:br/>
            <a:r>
              <a:t>岗位 (WEF 2025)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645920"/>
            <a:ext cx="2560320" cy="29260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645920"/>
            <a:ext cx="2560320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4DFF"/>
                </a:solidFill>
                <a:latin typeface="Calibri"/>
              </a:defRPr>
            </a:pPr>
            <a:r>
              <a:t>$2.9万亿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9FA"/>
                </a:solidFill>
                <a:latin typeface="Calibri"/>
              </a:defRPr>
            </a:pPr>
            <a:r>
              <a:t>AI为企业带来的</a:t>
            </a:r>
            <a:br/>
            <a:r>
              <a:t>年度成本节约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产业变革趋势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1. 从自动化到自主化：AI系统从执行预设规则转向自主决策</a:t>
            </a:r>
          </a:p>
          <a:p>
            <a:pPr algn="l"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F8F9FA"/>
                </a:solidFill>
                <a:latin typeface="Calibri"/>
              </a:defRPr>
            </a:pPr>
            <a:r>
              <a:t>2. 从单一智能到群体智能：多AI系统协同工作的生态模式</a:t>
            </a:r>
          </a:p>
          <a:p>
            <a:pPr algn="l"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F8F9FA"/>
                </a:solidFill>
                <a:latin typeface="Calibri"/>
              </a:defRPr>
            </a:pPr>
            <a:r>
              <a:t>3. 从工具到伙伴：AI成为人类创造力的放大器</a:t>
            </a:r>
          </a:p>
          <a:p>
            <a:pPr algn="l"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F8F9FA"/>
                </a:solidFill>
                <a:latin typeface="Calibri"/>
              </a:defRPr>
            </a:pPr>
            <a:r>
              <a:t>4. 数据驱动决策：从经验判断到智能预测的范式转变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AI革命的挑战与风险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1208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就业结构冲击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9FA"/>
                </a:solidFill>
                <a:latin typeface="Calibri"/>
              </a:defRPr>
            </a:pPr>
            <a:r>
              <a:t>• 8500万岗位可能被自动化取代</a:t>
            </a:r>
            <a:br/>
            <a:r>
              <a:t>• 技能鸿沟扩大，再培训需求迫切</a:t>
            </a:r>
            <a:br/>
            <a:r>
              <a:t>• 需要全民终身学习体系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463040"/>
            <a:ext cx="5212080" cy="54864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16459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隐私与数据安全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37744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9FA"/>
                </a:solidFill>
                <a:latin typeface="Calibri"/>
              </a:defRPr>
            </a:pPr>
            <a:r>
              <a:t>• 海量数据采集引发隐私担忧</a:t>
            </a:r>
            <a:br/>
            <a:r>
              <a:t>• 数据泄露风险持续增加</a:t>
            </a:r>
            <a:br/>
            <a:r>
              <a:t>• 跨境数据流动监管难题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5212080" cy="54864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062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B47BC"/>
                </a:solidFill>
                <a:latin typeface="Calibri"/>
              </a:defRPr>
            </a:pPr>
            <a:r>
              <a:t>伦理与偏见问题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9FA"/>
                </a:solidFill>
                <a:latin typeface="Calibri"/>
              </a:defRPr>
            </a:pPr>
            <a:r>
              <a:t>• 算法歧视加剧社会不平等</a:t>
            </a:r>
            <a:br/>
            <a:r>
              <a:t>• AI决策透明度与可解释性</a:t>
            </a:r>
            <a:br/>
            <a:r>
              <a:t>• 责任归属与问责机制缺失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402336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4023360"/>
            <a:ext cx="5212080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4297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42062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5F5"/>
                </a:solidFill>
                <a:latin typeface="Calibri"/>
              </a:defRPr>
            </a:pPr>
            <a:r>
              <a:t>治理与监管挑战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9377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9FA"/>
                </a:solidFill>
                <a:latin typeface="Calibri"/>
              </a:defRPr>
            </a:pPr>
            <a:r>
              <a:t>• 国际AI军备竞赛风险</a:t>
            </a:r>
            <a:br/>
            <a:r>
              <a:t>• 技术垄断与数字鸿沟</a:t>
            </a:r>
            <a:br/>
            <a:r>
              <a:t>• 全球AI治理框架缺位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未来展望：人机共生时代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3200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85F4"/>
                </a:solidFill>
                <a:latin typeface="Calibri"/>
              </a:defRPr>
            </a:pPr>
            <a:r>
              <a:t>2025-2027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AGI探索期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F9FA"/>
                </a:solidFill>
                <a:latin typeface="Calibri"/>
              </a:defRPr>
            </a:pPr>
            <a:r>
              <a:t>通用人工智能初步探索</a:t>
            </a:r>
            <a:br/>
            <a:r>
              <a:t>多模态AI广泛应用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2560320" cy="3200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645920"/>
            <a:ext cx="256032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  <a:latin typeface="Calibri"/>
              </a:defRPr>
            </a:pPr>
            <a:r>
              <a:t>2028-2032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人机协作期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F9FA"/>
                </a:solidFill>
                <a:latin typeface="Calibri"/>
              </a:defRPr>
            </a:pPr>
            <a:r>
              <a:t>脑机接口技术突破</a:t>
            </a:r>
            <a:br/>
            <a:r>
              <a:t>AI助手成为标配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2560320" cy="3200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2560320" cy="5486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D00"/>
                </a:solidFill>
                <a:latin typeface="Calibri"/>
              </a:defRPr>
            </a:pPr>
            <a:r>
              <a:t>2033-2040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智能融合期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F9FA"/>
                </a:solidFill>
                <a:latin typeface="Calibri"/>
              </a:defRPr>
            </a:pPr>
            <a:r>
              <a:t>量子计算+AI结合</a:t>
            </a:r>
            <a:br/>
            <a:r>
              <a:t>自主AI系统出现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645920"/>
            <a:ext cx="2560320" cy="3200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645920"/>
            <a:ext cx="256032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A853"/>
                </a:solidFill>
                <a:latin typeface="Calibri"/>
              </a:defRPr>
            </a:pPr>
            <a:r>
              <a:t>2040+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超级智能期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F9FA"/>
                </a:solidFill>
                <a:latin typeface="Calibri"/>
              </a:defRPr>
            </a:pPr>
            <a:r>
              <a:t>超级智能可能性</a:t>
            </a:r>
            <a:br/>
            <a:r>
              <a:t>人类社会范式转变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120640"/>
            <a:ext cx="73152" cy="10972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2578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Calibri"/>
              </a:defRPr>
            </a:pPr>
            <a:r>
              <a:t>💡 核心洞察：AI不会取代人类，但会使用AI的人将取代不会使用AI的人。未来的竞争力在于人机协作能力。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拥抱AI革命：行动指南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85F4"/>
                </a:solidFill>
                <a:latin typeface="Calibri"/>
              </a:defRPr>
            </a:pPr>
            <a:r>
              <a:t>🎓 个人层面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1. 培养AI素养：学习基础AI知识</a:t>
            </a:r>
            <a:br/>
            <a:r>
              <a:t>2. 掌握AI工具：提升工作效率</a:t>
            </a:r>
            <a:br/>
            <a:r>
              <a:t>3. 发展软技能：创造力、批判性思维</a:t>
            </a:r>
            <a:br/>
            <a:r>
              <a:t>4. 终身学习：持续更新技能体系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38328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383280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A853"/>
                </a:solidFill>
                <a:latin typeface="Calibri"/>
              </a:defRPr>
            </a:pPr>
            <a:r>
              <a:t>🏢 企业层面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1. 制定AI战略：明确数字化转型路径</a:t>
            </a:r>
            <a:br/>
            <a:r>
              <a:t>2. 投资人才培养：建设AI能力团队</a:t>
            </a:r>
            <a:br/>
            <a:r>
              <a:t>3. 构建数据基础：完善数据治理体系</a:t>
            </a:r>
            <a:br/>
            <a:r>
              <a:t>4. 敏捷试错：快速迭代AI应用场景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38328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383280" cy="914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D00"/>
                </a:solidFill>
                <a:latin typeface="Calibri"/>
              </a:defRPr>
            </a:pPr>
            <a:r>
              <a:t>🏛️ 政府层面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1. 完善AI法规：建立治理框架</a:t>
            </a:r>
            <a:br/>
            <a:r>
              <a:t>2. 加大研发投入：支持基础研究</a:t>
            </a:r>
            <a:br/>
            <a:r>
              <a:t>3. 教育改革：重塑教育体系</a:t>
            </a:r>
            <a:br/>
            <a:r>
              <a:t>4. 社会保障：应对就业转型冲击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F6368"/>
                </a:solidFill>
                <a:latin typeface="Calibri"/>
              </a:defRPr>
            </a:pPr>
            <a:r>
              <a:t>"未来已来，只是分布不均。" — William Gibson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285F4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F6368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9FA"/>
                </a:solidFill>
                <a:latin typeface="Calibri"/>
              </a:defRPr>
            </a:pPr>
            <a:r>
              <a:t>拥抱AI革命，共创智能未来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