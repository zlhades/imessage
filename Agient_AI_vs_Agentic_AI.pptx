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73152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0" y="1828800"/>
            <a:ext cx="54864" cy="32004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5200" b="1">
                <a:solidFill>
                  <a:srgbClr val="4285F4"/>
                </a:solidFill>
                <a:latin typeface="Calibri"/>
              </a:defRPr>
            </a:pPr>
            <a:r>
              <a:t>Agient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1089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0">
                <a:solidFill>
                  <a:srgbClr val="00BCD4"/>
                </a:solidFill>
                <a:latin typeface="Calibri"/>
              </a:defRPr>
            </a:pPr>
            <a:r>
              <a:t>代理型人工智能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0116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7C4DFF"/>
                </a:solidFill>
                <a:latin typeface="Calibri"/>
              </a:defRPr>
            </a:pPr>
            <a:r>
              <a:t>Agentic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31089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6D00"/>
                </a:solidFill>
                <a:latin typeface="Calibri"/>
              </a:defRPr>
            </a:pPr>
            <a:r>
              <a:t>智能体人工智能</a:t>
            </a:r>
          </a:p>
        </p:txBody>
      </p:sp>
      <p:sp>
        <p:nvSpPr>
          <p:cNvPr id="9" name="Oval 8"/>
          <p:cNvSpPr/>
          <p:nvPr/>
        </p:nvSpPr>
        <p:spPr>
          <a:xfrm>
            <a:off x="5394960" y="3200400"/>
            <a:ext cx="1371600" cy="1371600"/>
          </a:xfrm>
          <a:prstGeom prst="ellipse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34747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VS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754880"/>
            <a:ext cx="8531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F6368"/>
                </a:solidFill>
                <a:latin typeface="Calibri"/>
              </a:defRPr>
            </a:pPr>
            <a:r>
              <a:t>概念辨析 · 核心差异 · 技术演进 · 未来趋势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669280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F6368"/>
                </a:solidFill>
                <a:latin typeface="Calibri"/>
              </a:defRPr>
            </a:pPr>
            <a:r>
              <a:t>2026 | AI前沿深度解读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概念澄清：一词之差，天壤之别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303520" cy="475488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303520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285F4"/>
                </a:solidFill>
                <a:latin typeface="Calibri"/>
              </a:defRPr>
            </a:pPr>
            <a:r>
              <a:t>❓ Agient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9FA"/>
                </a:solidFill>
                <a:latin typeface="Calibri"/>
              </a:defRPr>
            </a:pPr>
            <a:r>
              <a:t>• 拼写变体：Agent的形容词化误用</a:t>
            </a:r>
            <a:br/>
            <a:r>
              <a:t>• 非标准术语：业界较少使用</a:t>
            </a:r>
            <a:br/>
            <a:r>
              <a:t>• 常见来源：打字错误或翻译偏差</a:t>
            </a:r>
            <a:br/>
            <a:r>
              <a:t>• 实际含义：通常指的就是Agentic AI</a:t>
            </a:r>
            <a:br/>
            <a:r>
              <a:t>• 使用频率：低（&lt;5% 文献使用）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4754880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2120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8C00"/>
                </a:solidFill>
                <a:latin typeface="Calibri"/>
              </a:defRPr>
            </a:pPr>
            <a:r>
              <a:t>⚠️ 注意：这不是一个正式的技术术语</a:t>
            </a:r>
            <a:br/>
            <a:r>
              <a:t>而是Agentic AI的拼写变体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463040"/>
            <a:ext cx="5303520" cy="475488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463040"/>
            <a:ext cx="5303520" cy="73152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64592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7C4DFF"/>
                </a:solidFill>
                <a:latin typeface="Calibri"/>
              </a:defRPr>
            </a:pPr>
            <a:r>
              <a:t>✓ Agentic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46888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9FA"/>
                </a:solidFill>
                <a:latin typeface="Calibri"/>
              </a:defRPr>
            </a:pPr>
            <a:r>
              <a:t>• 标准术语：学术界正式用语</a:t>
            </a:r>
            <a:br/>
            <a:r>
              <a:t>• 核心概念：具有自主代理能力的AI</a:t>
            </a:r>
            <a:br/>
            <a:r>
              <a:t>• 关键特征：自主性、主动性、交互性</a:t>
            </a:r>
            <a:br/>
            <a:r>
              <a:t>• 代表系统：AutoGPT、LangChain Agent</a:t>
            </a:r>
            <a:br/>
            <a:r>
              <a:t>• 使用频率：高（&gt;95% 文献使用）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5029200"/>
            <a:ext cx="4754880" cy="27432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52120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4A853"/>
                </a:solidFill>
                <a:latin typeface="Calibri"/>
              </a:defRPr>
            </a:pPr>
            <a:r>
              <a:t>✅ 正确：这是AI领域的正式概念</a:t>
            </a:r>
            <a:br/>
            <a:r>
              <a:t>指具备自主行动能力的智能系统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什么是 Agentic AI（智能体AI）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698480" cy="13716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73152" cy="13716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7C4DFF"/>
                </a:solidFill>
                <a:latin typeface="Calibri"/>
              </a:defRPr>
            </a:pPr>
            <a:r>
              <a:t>📖 定义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8F9FA"/>
                </a:solidFill>
                <a:latin typeface="Calibri"/>
              </a:defRPr>
            </a:pPr>
            <a:r>
              <a:t>Agentic AI 指能够自主感知环境、制定决策并采取行动以实现目标的智能系统。它不仅仅是响应指令，而是展现出主动性和目标导向行为。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08960"/>
            <a:ext cx="3383280" cy="310896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108960"/>
            <a:ext cx="3383280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200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285F4"/>
                </a:solidFill>
                <a:latin typeface="Calibri"/>
              </a:defRPr>
            </a:pPr>
            <a:r>
              <a:t>自主性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657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  <a:latin typeface="Calibri"/>
              </a:defRPr>
            </a:pPr>
            <a:r>
              <a:t>Autonomy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9FA"/>
                </a:solidFill>
                <a:latin typeface="Calibri"/>
              </a:defRPr>
            </a:pPr>
            <a:r>
              <a:t>• 无需人工干预</a:t>
            </a:r>
            <a:br/>
            <a:r>
              <a:t>• 独立制定计划</a:t>
            </a:r>
            <a:br/>
            <a:r>
              <a:t>• 自主执行任务</a:t>
            </a:r>
            <a:br/>
            <a:r>
              <a:t>• 自我纠错优化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59" y="3108960"/>
            <a:ext cx="3383280" cy="310896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59" y="3108960"/>
            <a:ext cx="3383280" cy="7315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39" y="32918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399" y="3200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4A853"/>
                </a:solidFill>
                <a:latin typeface="Calibri"/>
              </a:defRPr>
            </a:pPr>
            <a:r>
              <a:t>主动性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399" y="3657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  <a:latin typeface="Calibri"/>
              </a:defRPr>
            </a:pPr>
            <a:r>
              <a:t>Proactiveness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39" y="42062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9FA"/>
                </a:solidFill>
                <a:latin typeface="Calibri"/>
              </a:defRPr>
            </a:pPr>
            <a:r>
              <a:t>• 主动发起行动</a:t>
            </a:r>
            <a:br/>
            <a:r>
              <a:t>• 预测用户需求</a:t>
            </a:r>
            <a:br/>
            <a:r>
              <a:t>• 提前规划路径</a:t>
            </a:r>
            <a:br/>
            <a:r>
              <a:t>• 动态调整策略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3108960"/>
            <a:ext cx="3383280" cy="310896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3108960"/>
            <a:ext cx="3383280" cy="73152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32918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3200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D00"/>
                </a:solidFill>
                <a:latin typeface="Calibri"/>
              </a:defRPr>
            </a:pPr>
            <a:r>
              <a:t>交互性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657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  <a:latin typeface="Calibri"/>
              </a:defRPr>
            </a:pPr>
            <a:r>
              <a:t>Social 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2062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9FA"/>
                </a:solidFill>
                <a:latin typeface="Calibri"/>
              </a:defRPr>
            </a:pPr>
            <a:r>
              <a:t>• 与其他AI协作</a:t>
            </a:r>
            <a:br/>
            <a:r>
              <a:t>• 人机自然对话</a:t>
            </a:r>
            <a:br/>
            <a:r>
              <a:t>• 多智能体协调</a:t>
            </a:r>
            <a:br/>
            <a:r>
              <a:t>• 环境感知反馈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核心维度对比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474720" cy="64008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F6368"/>
                </a:solidFill>
                <a:latin typeface="Calibri"/>
              </a:defRPr>
            </a:pPr>
            <a:r>
              <a:t>维度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1463040"/>
            <a:ext cx="3474720" cy="64008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5087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C00"/>
                </a:solidFill>
                <a:latin typeface="Calibri"/>
              </a:defRPr>
            </a:pPr>
            <a:r>
              <a:t>Agient AI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463040"/>
            <a:ext cx="3474720" cy="64008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087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C4DFF"/>
                </a:solidFill>
                <a:latin typeface="Calibri"/>
              </a:defRPr>
            </a:pPr>
            <a:r>
              <a:t>Agentic 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194560"/>
            <a:ext cx="3474720" cy="54864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1945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F6368"/>
                </a:solidFill>
                <a:latin typeface="Calibri"/>
              </a:defRPr>
            </a:pPr>
            <a:r>
              <a:t>术语地位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2194560"/>
            <a:ext cx="3474720" cy="54864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1945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9FA"/>
                </a:solidFill>
                <a:latin typeface="Calibri"/>
              </a:defRPr>
            </a:pPr>
            <a:r>
              <a:t>非正式拼写变体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194560"/>
            <a:ext cx="3474720" cy="54864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1945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9FA"/>
                </a:solidFill>
                <a:latin typeface="Calibri"/>
              </a:defRPr>
            </a:pPr>
            <a:r>
              <a:t>学术界正式术语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788920"/>
            <a:ext cx="3474720" cy="548640"/>
          </a:xfrm>
          <a:prstGeom prst="rect">
            <a:avLst/>
          </a:prstGeom>
          <a:solidFill>
            <a:srgbClr val="2D2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7889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F6368"/>
                </a:solidFill>
                <a:latin typeface="Calibri"/>
              </a:defRPr>
            </a:pPr>
            <a:r>
              <a:t>定义清晰度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2788920"/>
            <a:ext cx="3474720" cy="548640"/>
          </a:xfrm>
          <a:prstGeom prst="rect">
            <a:avLst/>
          </a:prstGeom>
          <a:solidFill>
            <a:srgbClr val="2D2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27889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9FA"/>
                </a:solidFill>
                <a:latin typeface="Calibri"/>
              </a:defRPr>
            </a:pPr>
            <a:r>
              <a:t>模糊、不一致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2788920"/>
            <a:ext cx="3474720" cy="548640"/>
          </a:xfrm>
          <a:prstGeom prst="rect">
            <a:avLst/>
          </a:prstGeom>
          <a:solidFill>
            <a:srgbClr val="2D2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7889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9FA"/>
                </a:solidFill>
                <a:latin typeface="Calibri"/>
              </a:defRPr>
            </a:pPr>
            <a:r>
              <a:t>明确、标准化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383280"/>
            <a:ext cx="3474720" cy="54864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3832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F6368"/>
                </a:solidFill>
                <a:latin typeface="Calibri"/>
              </a:defRPr>
            </a:pPr>
            <a:r>
              <a:t>学术引用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3383280"/>
            <a:ext cx="3474720" cy="54864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3832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9FA"/>
                </a:solidFill>
                <a:latin typeface="Calibri"/>
              </a:defRPr>
            </a:pPr>
            <a:r>
              <a:t>几乎不存在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3383280"/>
            <a:ext cx="3474720" cy="54864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33832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9FA"/>
                </a:solidFill>
                <a:latin typeface="Calibri"/>
              </a:defRPr>
            </a:pPr>
            <a:r>
              <a:t>大量论文引用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977639"/>
            <a:ext cx="3474720" cy="548640"/>
          </a:xfrm>
          <a:prstGeom prst="rect">
            <a:avLst/>
          </a:prstGeom>
          <a:solidFill>
            <a:srgbClr val="2D2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977639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F6368"/>
                </a:solidFill>
                <a:latin typeface="Calibri"/>
              </a:defRPr>
            </a:pPr>
            <a:r>
              <a:t>工业应用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0560" y="3977639"/>
            <a:ext cx="3474720" cy="548640"/>
          </a:xfrm>
          <a:prstGeom prst="rect">
            <a:avLst/>
          </a:prstGeom>
          <a:solidFill>
            <a:srgbClr val="2D2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3977639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9FA"/>
                </a:solidFill>
                <a:latin typeface="Calibri"/>
              </a:defRPr>
            </a:pPr>
            <a:r>
              <a:t>无独立案例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3977639"/>
            <a:ext cx="3474720" cy="548640"/>
          </a:xfrm>
          <a:prstGeom prst="rect">
            <a:avLst/>
          </a:prstGeom>
          <a:solidFill>
            <a:srgbClr val="2D2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3977639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9FA"/>
                </a:solidFill>
                <a:latin typeface="Calibri"/>
              </a:defRPr>
            </a:pPr>
            <a:r>
              <a:t>广泛商业应用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572000"/>
            <a:ext cx="3474720" cy="54864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45720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F6368"/>
                </a:solidFill>
                <a:latin typeface="Calibri"/>
              </a:defRPr>
            </a:pPr>
            <a:r>
              <a:t>技术社区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80560" y="4572000"/>
            <a:ext cx="3474720" cy="54864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45720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9FA"/>
                </a:solidFill>
                <a:latin typeface="Calibri"/>
              </a:defRPr>
            </a:pPr>
            <a:r>
              <a:t>偶见拼写错误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0" y="4572000"/>
            <a:ext cx="3474720" cy="54864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40" y="45720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9FA"/>
                </a:solidFill>
                <a:latin typeface="Calibri"/>
              </a:defRPr>
            </a:pPr>
            <a:r>
              <a:t>热门讨论话题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5166360"/>
            <a:ext cx="3474720" cy="548640"/>
          </a:xfrm>
          <a:prstGeom prst="rect">
            <a:avLst/>
          </a:prstGeom>
          <a:solidFill>
            <a:srgbClr val="2D2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51663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F6368"/>
                </a:solidFill>
                <a:latin typeface="Calibri"/>
              </a:defRPr>
            </a:pPr>
            <a:r>
              <a:t>代表系统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80560" y="5166360"/>
            <a:ext cx="3474720" cy="548640"/>
          </a:xfrm>
          <a:prstGeom prst="rect">
            <a:avLst/>
          </a:prstGeom>
          <a:solidFill>
            <a:srgbClr val="2D2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0" y="51663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4444"/>
                </a:solidFill>
                <a:latin typeface="Calibri"/>
              </a:defRPr>
            </a:pPr>
            <a:r>
              <a:t>无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0" y="5166360"/>
            <a:ext cx="3474720" cy="548640"/>
          </a:xfrm>
          <a:prstGeom prst="rect">
            <a:avLst/>
          </a:prstGeom>
          <a:solidFill>
            <a:srgbClr val="2D2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21040" y="51663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9FA"/>
                </a:solidFill>
                <a:latin typeface="Calibri"/>
              </a:defRPr>
            </a:pPr>
            <a:r>
              <a:t>AutoGPT/BabyAGI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5760720"/>
            <a:ext cx="3474720" cy="54864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57607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F6368"/>
                </a:solidFill>
                <a:latin typeface="Calibri"/>
              </a:defRPr>
            </a:pPr>
            <a:r>
              <a:t>未来发展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80560" y="5760720"/>
            <a:ext cx="3474720" cy="54864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0" y="57607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9FA"/>
                </a:solidFill>
                <a:latin typeface="Calibri"/>
              </a:defRPr>
            </a:pPr>
            <a:r>
              <a:t>将被正名替代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9600" y="5760720"/>
            <a:ext cx="3474720" cy="54864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21040" y="57607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9FA"/>
                </a:solidFill>
                <a:latin typeface="Calibri"/>
              </a:defRPr>
            </a:pPr>
            <a:r>
              <a:t>快速演进中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Agentic AI 技术架构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5120640"/>
            <a:ext cx="9418320" cy="9144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5120640"/>
            <a:ext cx="73152" cy="9144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5212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285F4"/>
                </a:solidFill>
                <a:latin typeface="Calibri"/>
              </a:defRPr>
            </a:pPr>
            <a:r>
              <a:t>🧠 认知层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521208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9FA"/>
                </a:solidFill>
                <a:latin typeface="Calibri"/>
              </a:defRPr>
            </a:pPr>
            <a:r>
              <a:t>LLM + 知识库</a:t>
            </a:r>
            <a:br/>
            <a:r>
              <a:t>• 语言理解与推理</a:t>
            </a:r>
            <a:br/>
            <a:r>
              <a:t>• 上下文记忆管理</a:t>
            </a:r>
            <a:br/>
            <a:r>
              <a:t>• 领域知识调用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023359"/>
            <a:ext cx="9418320" cy="9144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4023359"/>
            <a:ext cx="73152" cy="9144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411479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4DFF"/>
                </a:solidFill>
                <a:latin typeface="Calibri"/>
              </a:defRPr>
            </a:pPr>
            <a:r>
              <a:t>⚙️ 规划层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4114799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9FA"/>
                </a:solidFill>
                <a:latin typeface="Calibri"/>
              </a:defRPr>
            </a:pPr>
            <a:r>
              <a:t>任务分解与编排</a:t>
            </a:r>
            <a:br/>
            <a:r>
              <a:t>• 目标分解规划</a:t>
            </a:r>
            <a:br/>
            <a:r>
              <a:t>• 工具选择调用</a:t>
            </a:r>
            <a:br/>
            <a:r>
              <a:t>• 执行路径优化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2926079"/>
            <a:ext cx="9418320" cy="9144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71600" y="2926079"/>
            <a:ext cx="73152" cy="9144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301751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D00"/>
                </a:solidFill>
                <a:latin typeface="Calibri"/>
              </a:defRPr>
            </a:pPr>
            <a:r>
              <a:t>🔧 工具层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017519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9FA"/>
                </a:solidFill>
                <a:latin typeface="Calibri"/>
              </a:defRPr>
            </a:pPr>
            <a:r>
              <a:t>外部能力集成</a:t>
            </a:r>
            <a:br/>
            <a:r>
              <a:t>• API/数据库访问</a:t>
            </a:r>
            <a:br/>
            <a:r>
              <a:t>• 代码执行环境</a:t>
            </a:r>
            <a:br/>
            <a:r>
              <a:t>• 搜索引擎集成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1828800"/>
            <a:ext cx="9418320" cy="9144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71600" y="1828800"/>
            <a:ext cx="73152" cy="9144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A853"/>
                </a:solidFill>
                <a:latin typeface="Calibri"/>
              </a:defRPr>
            </a:pPr>
            <a:r>
              <a:t>👁️ 感知层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192024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9FA"/>
                </a:solidFill>
                <a:latin typeface="Calibri"/>
              </a:defRPr>
            </a:pPr>
            <a:r>
              <a:t>环境交互接口</a:t>
            </a:r>
            <a:br/>
            <a:r>
              <a:t>• 多模态输入处理</a:t>
            </a:r>
            <a:br/>
            <a:r>
              <a:t>• 实时反馈收集</a:t>
            </a:r>
            <a:br/>
            <a:r>
              <a:t>• 状态监测评估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14630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F6368"/>
                </a:solidFill>
                <a:latin typeface="Calibri"/>
              </a:defRPr>
            </a:pPr>
            <a:r>
              <a:t>⬆ 数据流向上 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Agentic AI 应用场景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212080" cy="22860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21208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0020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285F4"/>
                </a:solidFill>
                <a:latin typeface="Calibri"/>
              </a:defRPr>
            </a:pPr>
            <a:r>
              <a:t>自主编程助手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9FA"/>
                </a:solidFill>
                <a:latin typeface="Calibri"/>
              </a:defRPr>
            </a:pPr>
            <a:r>
              <a:t>• 理解需求自动生成代码</a:t>
            </a:r>
            <a:br/>
            <a:r>
              <a:t>• 调试修复优化一体化</a:t>
            </a:r>
            <a:br/>
            <a:r>
              <a:t>• 代码审查与重构建议</a:t>
            </a:r>
            <a:br/>
            <a:r>
              <a:t>• 代表：Devin, Cursor Agent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59" y="1463040"/>
            <a:ext cx="5212080" cy="22860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463040"/>
            <a:ext cx="5212080" cy="54864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79" y="16459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39" y="160020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7C4DFF"/>
                </a:solidFill>
                <a:latin typeface="Calibri"/>
              </a:defRPr>
            </a:pPr>
            <a:r>
              <a:t>智能数据分析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79" y="228600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9FA"/>
                </a:solidFill>
                <a:latin typeface="Calibri"/>
              </a:defRPr>
            </a:pPr>
            <a:r>
              <a:t>• 自主探索数据发现模式</a:t>
            </a:r>
            <a:br/>
            <a:r>
              <a:t>• 生成可视化与报告</a:t>
            </a:r>
            <a:br/>
            <a:r>
              <a:t>• 统计建模与预测</a:t>
            </a:r>
            <a:br/>
            <a:r>
              <a:t>• 代表：Code Interpreter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023360"/>
            <a:ext cx="5212080" cy="22860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023360"/>
            <a:ext cx="5212080" cy="54864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2062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16052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D00"/>
                </a:solidFill>
                <a:latin typeface="Calibri"/>
              </a:defRPr>
            </a:pPr>
            <a:r>
              <a:t>自动化研究助理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84632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9FA"/>
                </a:solidFill>
                <a:latin typeface="Calibri"/>
              </a:defRPr>
            </a:pPr>
            <a:r>
              <a:t>• 文献检索与综述撰写</a:t>
            </a:r>
            <a:br/>
            <a:r>
              <a:t>• 实验设计与执行</a:t>
            </a:r>
            <a:br/>
            <a:r>
              <a:t>• 跨学科知识整合</a:t>
            </a:r>
            <a:br/>
            <a:r>
              <a:t>• 代表：Elicit, Consensus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59" y="4023360"/>
            <a:ext cx="5212080" cy="22860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59" y="4023360"/>
            <a:ext cx="521208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79" y="42062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39" y="416052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4A853"/>
                </a:solidFill>
                <a:latin typeface="Calibri"/>
              </a:defRPr>
            </a:pPr>
            <a:r>
              <a:t>业务流程自动化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79" y="484632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9FA"/>
                </a:solidFill>
                <a:latin typeface="Calibri"/>
              </a:defRPr>
            </a:pPr>
            <a:r>
              <a:t>• 跨系统工作流编排</a:t>
            </a:r>
            <a:br/>
            <a:r>
              <a:t>• 客户服务自动化</a:t>
            </a:r>
            <a:br/>
            <a:r>
              <a:t>• 决策支持与执行</a:t>
            </a:r>
            <a:br/>
            <a:r>
              <a:t>• 代表：UiPath AI Agent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AI演进时间线：从ChatGPT到Agentic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645920" cy="41148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64592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285F4"/>
                </a:solidFill>
                <a:latin typeface="Calibri"/>
              </a:defRPr>
            </a:pPr>
            <a:r>
              <a:t>2022</a:t>
            </a:r>
            <a:br/>
            <a:r>
              <a:t>Q4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651760"/>
            <a:ext cx="1097280" cy="1828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ChatGPT</a:t>
            </a:r>
            <a:br/>
            <a:r>
              <a:t>发布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3192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F6368"/>
                </a:solidFill>
                <a:latin typeface="Calibri"/>
              </a:defRPr>
            </a:pPr>
            <a:r>
              <a:t>对话式AI</a:t>
            </a:r>
            <a:br/>
            <a:r>
              <a:t>引爆全球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1645920"/>
            <a:ext cx="1645920" cy="41148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51760" y="1645920"/>
            <a:ext cx="1645920" cy="54864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18288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C4DFF"/>
                </a:solidFill>
                <a:latin typeface="Calibri"/>
              </a:defRPr>
            </a:pPr>
            <a:r>
              <a:t>2023</a:t>
            </a:r>
            <a:br/>
            <a:r>
              <a:t>Q1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651760"/>
            <a:ext cx="1097280" cy="18288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283464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GPT-4</a:t>
            </a:r>
            <a:br/>
            <a:r>
              <a:t>发布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93192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F6368"/>
                </a:solidFill>
                <a:latin typeface="Calibri"/>
              </a:defRPr>
            </a:pPr>
            <a:r>
              <a:t>多模态能力</a:t>
            </a:r>
            <a:br/>
            <a:r>
              <a:t>初步智能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1645920"/>
            <a:ext cx="1645920" cy="41148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0" y="1645920"/>
            <a:ext cx="1645920" cy="54864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18288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6D00"/>
                </a:solidFill>
                <a:latin typeface="Calibri"/>
              </a:defRPr>
            </a:pPr>
            <a:r>
              <a:t>2023</a:t>
            </a:r>
            <a:br/>
            <a:r>
              <a:t>Q2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2651760"/>
            <a:ext cx="1097280" cy="18288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283464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AutoGPT</a:t>
            </a:r>
            <a:br/>
            <a:r>
              <a:t>爆红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93192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F6368"/>
                </a:solidFill>
                <a:latin typeface="Calibri"/>
              </a:defRPr>
            </a:pPr>
            <a:r>
              <a:t>AI智能体</a:t>
            </a:r>
            <a:br/>
            <a:r>
              <a:t>概念兴起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1645920"/>
            <a:ext cx="1645920" cy="41148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92240" y="1645920"/>
            <a:ext cx="164592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18288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A853"/>
                </a:solidFill>
                <a:latin typeface="Calibri"/>
              </a:defRPr>
            </a:pPr>
            <a:r>
              <a:t>2023</a:t>
            </a:r>
            <a:br/>
            <a:r>
              <a:t>Q4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2651760"/>
            <a:ext cx="1097280" cy="1828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283464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GPTs</a:t>
            </a:r>
            <a:br/>
            <a:r>
              <a:t>上线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93192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F6368"/>
                </a:solidFill>
                <a:latin typeface="Calibri"/>
              </a:defRPr>
            </a:pPr>
            <a:r>
              <a:t>定制化</a:t>
            </a:r>
            <a:br/>
            <a:r>
              <a:t>AI助手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80" y="1645920"/>
            <a:ext cx="1645920" cy="41148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12480" y="1645920"/>
            <a:ext cx="1645920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18288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CD4"/>
                </a:solidFill>
                <a:latin typeface="Calibri"/>
              </a:defRPr>
            </a:pPr>
            <a:r>
              <a:t>2024</a:t>
            </a:r>
            <a:br/>
            <a:r>
              <a:t>Q1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0" y="2651760"/>
            <a:ext cx="1097280" cy="1828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283464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 Devin</a:t>
            </a:r>
            <a:br/>
            <a:r>
              <a:t>亮相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93192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F6368"/>
                </a:solidFill>
                <a:latin typeface="Calibri"/>
              </a:defRPr>
            </a:pPr>
            <a:r>
              <a:t>自主编程</a:t>
            </a:r>
            <a:br/>
            <a:r>
              <a:t>智能体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332720" y="1645920"/>
            <a:ext cx="1645920" cy="41148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332720" y="1645920"/>
            <a:ext cx="164592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32720" y="18288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285F4"/>
                </a:solidFill>
                <a:latin typeface="Calibri"/>
              </a:defRPr>
            </a:pPr>
            <a:r>
              <a:t>2025+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607040" y="2651760"/>
            <a:ext cx="1097280" cy="1828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24160" y="283464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Agentic AI</a:t>
            </a:r>
            <a:br/>
            <a:r>
              <a:t>时代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24160" y="393192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F6368"/>
                </a:solidFill>
                <a:latin typeface="Calibri"/>
              </a:defRPr>
            </a:pPr>
            <a:r>
              <a:t>多智能体</a:t>
            </a:r>
            <a:br/>
            <a:r>
              <a:t>协作生态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5669280"/>
            <a:ext cx="1069848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0" y="57607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BCD4"/>
                </a:solidFill>
                <a:latin typeface="Calibri"/>
              </a:defRPr>
            </a:pPr>
            <a:r>
              <a:t>AI自主性不断增强 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核心洞察与建议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698480" cy="109728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73152" cy="10972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285F4"/>
                </a:solidFill>
                <a:latin typeface="Calibri"/>
              </a:defRPr>
            </a:pPr>
            <a:r>
              <a:t>洞察一：术语正名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1168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9FA"/>
                </a:solidFill>
                <a:latin typeface="Calibri"/>
              </a:defRPr>
            </a:pPr>
            <a:r>
              <a:t>"Agient AI" 是拼写变体，"Agentic AI" 才是正确术语。</a:t>
            </a:r>
            <a:br/>
            <a:r>
              <a:t>建议在学术写作、技术文档和日常交流中使用正确拼写。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97480"/>
            <a:ext cx="10698480" cy="109728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697480"/>
            <a:ext cx="73152" cy="109728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834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788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4DFF"/>
                </a:solidFill>
                <a:latin typeface="Calibri"/>
              </a:defRPr>
            </a:pPr>
            <a:r>
              <a:t>洞察二：能力跃迁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24612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9FA"/>
                </a:solidFill>
                <a:latin typeface="Calibri"/>
              </a:defRPr>
            </a:pPr>
            <a:r>
              <a:t>Agentic AI 代表了从"被动响应"到"主动行动"的范式转变。</a:t>
            </a:r>
            <a:br/>
            <a:r>
              <a:t>这不仅仅是技术进步，更是AI角色的根本性重新定义。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931920"/>
            <a:ext cx="10698480" cy="109728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931920"/>
            <a:ext cx="73152" cy="109728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069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023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D00"/>
                </a:solidFill>
                <a:latin typeface="Calibri"/>
              </a:defRPr>
            </a:pPr>
            <a:r>
              <a:t>洞察三：生态演进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48056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9FA"/>
                </a:solidFill>
                <a:latin typeface="Calibri"/>
              </a:defRPr>
            </a:pPr>
            <a:r>
              <a:t>从单一智能体到多智能体协作，AI正在形成自主运行的生态系统。</a:t>
            </a:r>
            <a:br/>
            <a:r>
              <a:t>未来AI将像人类团队一样分工协作、互相监督。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166360"/>
            <a:ext cx="10698480" cy="109728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5166360"/>
            <a:ext cx="73152" cy="109728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303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⚠️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257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444"/>
                </a:solidFill>
                <a:latin typeface="Calibri"/>
              </a:defRPr>
            </a:pPr>
            <a:r>
              <a:t>洞察四：风险意识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7150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9FA"/>
                </a:solidFill>
                <a:latin typeface="Calibri"/>
              </a:defRPr>
            </a:pPr>
            <a:r>
              <a:t>自主AI带来效率提升的同时，也带来可控性、安全性和伦理挑战。</a:t>
            </a:r>
            <a:br/>
            <a:r>
              <a:t>建立AI治理框架和监管机制刻不容缓。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1371600"/>
            <a:ext cx="5760720" cy="41148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1371600"/>
            <a:ext cx="5760720" cy="73152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0" y="5413248"/>
            <a:ext cx="5760720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16459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C4DFF"/>
                </a:solidFill>
                <a:latin typeface="Calibri"/>
              </a:defRPr>
            </a:pPr>
            <a:r>
              <a:t>📌 总结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0" y="2377440"/>
            <a:ext cx="822960" cy="27432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2651760"/>
            <a:ext cx="4480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8F9FA"/>
                </a:solidFill>
                <a:latin typeface="Calibri"/>
              </a:defRPr>
            </a:pPr>
            <a:r>
              <a:t>✓ Agient AI → 拼写变体，非正式术语</a:t>
            </a:r>
            <a:br/>
            <a:br/>
            <a:r>
              <a:t>✓ Agentic AI → 正式概念，自主智能系统</a:t>
            </a:r>
            <a:br/>
            <a:br/>
            <a:r>
              <a:t>✓ 核心特征 → 自主性、主动性、交互性</a:t>
            </a:r>
            <a:br/>
            <a:br/>
            <a:r>
              <a:t>✓ 技术趋势 → 从被动工具到主动伙伴</a:t>
            </a:r>
            <a:br/>
            <a:br/>
            <a:r>
              <a:t>✓ 未来方向 → 多智能体协作生态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760720"/>
            <a:ext cx="8531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285F4"/>
                </a:solidFill>
                <a:latin typeface="Calibri"/>
              </a:defRPr>
            </a:pPr>
            <a:r>
              <a:t>正确理解概念，拥抱AI未来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73152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0" y="1645920"/>
            <a:ext cx="54864" cy="22860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FF8C00"/>
                </a:solidFill>
                <a:latin typeface="Calibri"/>
              </a:defRPr>
            </a:pPr>
            <a:r>
              <a:t>Agient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82880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7C4DFF"/>
                </a:solidFill>
                <a:latin typeface="Calibri"/>
              </a:defRPr>
            </a:pPr>
            <a:r>
              <a:t>Agentic AI</a:t>
            </a:r>
          </a:p>
        </p:txBody>
      </p:sp>
      <p:sp>
        <p:nvSpPr>
          <p:cNvPr id="7" name="Oval 6"/>
          <p:cNvSpPr/>
          <p:nvPr/>
        </p:nvSpPr>
        <p:spPr>
          <a:xfrm>
            <a:off x="5394960" y="2103120"/>
            <a:ext cx="1371600" cy="1371600"/>
          </a:xfrm>
          <a:prstGeom prst="ellipse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0" y="237744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VS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4114800"/>
            <a:ext cx="3931920" cy="73152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0" y="4114800"/>
            <a:ext cx="393192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416052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4A853"/>
                </a:solidFill>
                <a:latin typeface="Calibri"/>
              </a:defRPr>
            </a:pPr>
            <a:r>
              <a:t>✅ 正确答案：Agentic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029200"/>
            <a:ext cx="8531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谢谢观看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760720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F6368"/>
                </a:solidFill>
                <a:latin typeface="Calibri"/>
              </a:defRPr>
            </a:pPr>
            <a:r>
              <a:t>Thank You | 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